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3C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3CDB7"/>
                </a:solidFill>
                <a:latin typeface="Aptos"/>
              </a:rPr>
              <a:t>COMPUTER VISION ×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25880"/>
            <a:ext cx="98755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2F6FA"/>
                </a:solidFill>
                <a:latin typeface="Aptos"/>
              </a:rPr>
              <a:t>Can AI Help Reduce the Risks
of Manually Sorting Medical Waste?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154680"/>
            <a:ext cx="7772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A6B5C5"/>
                </a:solidFill>
                <a:latin typeface="Aptos"/>
              </a:rPr>
              <a:t>Medical Waste Classification using Deep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703320"/>
            <a:ext cx="8961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6B5C5"/>
                </a:solidFill>
                <a:latin typeface="Aptos"/>
              </a:rPr>
              <a:t>A computer vision project exploring automated classification of medical waste.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4617720"/>
            <a:ext cx="1737360" cy="530352"/>
          </a:xfrm>
          <a:prstGeom prst="roundRect">
            <a:avLst/>
          </a:prstGeom>
          <a:solidFill>
            <a:srgbClr val="16273A"/>
          </a:solidFill>
          <a:ln>
            <a:solidFill>
              <a:srgbClr val="5D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4745736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5D9DFF"/>
                </a:solidFill>
                <a:latin typeface="Aptos"/>
              </a:rPr>
              <a:t>MASK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64040" y="4617720"/>
            <a:ext cx="1737360" cy="530352"/>
          </a:xfrm>
          <a:prstGeom prst="roundRect">
            <a:avLst/>
          </a:prstGeom>
          <a:solidFill>
            <a:srgbClr val="16273A"/>
          </a:solidFill>
          <a:ln>
            <a:solidFill>
              <a:srgbClr val="33CD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64040" y="4745736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33CDB7"/>
                </a:solidFill>
                <a:latin typeface="Aptos"/>
              </a:rPr>
              <a:t>GLOVES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5394959"/>
            <a:ext cx="1737360" cy="530352"/>
          </a:xfrm>
          <a:prstGeom prst="roundRect">
            <a:avLst/>
          </a:prstGeom>
          <a:solidFill>
            <a:srgbClr val="16273A"/>
          </a:solidFill>
          <a:ln>
            <a:solidFill>
              <a:srgbClr val="EB62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5522975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EB6262"/>
                </a:solidFill>
                <a:latin typeface="Aptos"/>
              </a:rPr>
              <a:t>SYRINGE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64040" y="5394959"/>
            <a:ext cx="1737360" cy="530352"/>
          </a:xfrm>
          <a:prstGeom prst="roundRect">
            <a:avLst/>
          </a:prstGeom>
          <a:solidFill>
            <a:srgbClr val="16273A"/>
          </a:solidFill>
          <a:ln>
            <a:solidFill>
              <a:srgbClr val="F7A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5522975"/>
            <a:ext cx="1737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7AA4A"/>
                </a:solidFill>
                <a:latin typeface="Aptos"/>
              </a:rPr>
              <a:t>MEDICINE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1722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6B5C5"/>
                </a:solidFill>
                <a:latin typeface="Aptos"/>
              </a:rPr>
              <a:t>Tengku Reza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5C5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3C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3CDB7"/>
                </a:solidFill>
                <a:latin typeface="Aptos"/>
              </a:rPr>
              <a:t>01 —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2F6FA"/>
                </a:solidFill>
                <a:latin typeface="Aptos"/>
              </a:rPr>
              <a:t>Manual sorting creates a safety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0020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B5C5"/>
                </a:solidFill>
                <a:latin typeface="Aptos"/>
              </a:rPr>
              <a:t>The project starts with an operational problem, not a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31720"/>
            <a:ext cx="3429000" cy="2286000"/>
          </a:xfrm>
          <a:prstGeom prst="roundRect">
            <a:avLst/>
          </a:prstGeom>
          <a:solidFill>
            <a:srgbClr val="121F2F"/>
          </a:solidFill>
          <a:ln>
            <a:solidFill>
              <a:srgbClr val="23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331720"/>
            <a:ext cx="64008" cy="2286000"/>
          </a:xfrm>
          <a:prstGeom prst="rect">
            <a:avLst/>
          </a:prstGeom>
          <a:solidFill>
            <a:srgbClr val="EB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F6FA"/>
                </a:solidFill>
                <a:latin typeface="Aptos"/>
              </a:rPr>
              <a:t>Exposure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90087"/>
            <a:ext cx="3017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B5C5"/>
                </a:solidFill>
                <a:latin typeface="Aptos"/>
              </a:rPr>
              <a:t>Manual sorting can expose waste-handling staff to contaminated materials and accidental injuries.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331720"/>
            <a:ext cx="3429000" cy="2286000"/>
          </a:xfrm>
          <a:prstGeom prst="roundRect">
            <a:avLst/>
          </a:prstGeom>
          <a:solidFill>
            <a:srgbClr val="121F2F"/>
          </a:solidFill>
          <a:ln>
            <a:solidFill>
              <a:srgbClr val="23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2331720"/>
            <a:ext cx="64008" cy="2286000"/>
          </a:xfrm>
          <a:prstGeom prst="rect">
            <a:avLst/>
          </a:prstGeom>
          <a:solidFill>
            <a:srgbClr val="F7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251460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F6FA"/>
                </a:solidFill>
                <a:latin typeface="Aptos"/>
              </a:rPr>
              <a:t>Classification Errors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990087"/>
            <a:ext cx="3017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B5C5"/>
                </a:solidFill>
                <a:latin typeface="Aptos"/>
              </a:rPr>
              <a:t>Incorrectly identifying medical waste can lead to inappropriate handling and downstream disposal issues.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2331720"/>
            <a:ext cx="3429000" cy="2286000"/>
          </a:xfrm>
          <a:prstGeom prst="roundRect">
            <a:avLst/>
          </a:prstGeom>
          <a:solidFill>
            <a:srgbClr val="121F2F"/>
          </a:solidFill>
          <a:ln>
            <a:solidFill>
              <a:srgbClr val="23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4" y="2331720"/>
            <a:ext cx="64008" cy="2286000"/>
          </a:xfrm>
          <a:prstGeom prst="rect">
            <a:avLst/>
          </a:prstGeom>
          <a:solidFill>
            <a:srgbClr val="33C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251460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F6FA"/>
                </a:solidFill>
                <a:latin typeface="Aptos"/>
              </a:rPr>
              <a:t>Operational Dependence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990087"/>
            <a:ext cx="3017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B5C5"/>
                </a:solidFill>
                <a:latin typeface="Aptos"/>
              </a:rPr>
              <a:t>The process relies heavily on consistent human classification of different waste categories.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7492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3CDB7"/>
                </a:solidFill>
                <a:latin typeface="Aptos"/>
              </a:rPr>
              <a:t>Question: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001768"/>
            <a:ext cx="9418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2F6FA"/>
                </a:solidFill>
                <a:latin typeface="Aptos"/>
              </a:rPr>
              <a:t>Can computer vision help automate the first stage of medical waste classification?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5C5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3C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3CDB7"/>
                </a:solidFill>
                <a:latin typeface="Aptos"/>
              </a:rPr>
              <a:t>02 — 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2F6FA"/>
                </a:solidFill>
                <a:latin typeface="Aptos"/>
              </a:rPr>
              <a:t>Turn visual recognition into an automated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0020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B5C5"/>
                </a:solidFill>
                <a:latin typeface="Aptos"/>
              </a:rPr>
              <a:t>The proposed system uses a camera + CNN pipeline.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40280"/>
            <a:ext cx="2468880" cy="2331720"/>
          </a:xfrm>
          <a:prstGeom prst="roundRect">
            <a:avLst/>
          </a:prstGeom>
          <a:solidFill>
            <a:srgbClr val="121F2F"/>
          </a:solidFill>
          <a:ln>
            <a:solidFill>
              <a:srgbClr val="23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40280"/>
            <a:ext cx="64008" cy="2331720"/>
          </a:xfrm>
          <a:prstGeom prst="rect">
            <a:avLst/>
          </a:prstGeom>
          <a:solidFill>
            <a:srgbClr val="5D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2057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F6FA"/>
                </a:solidFill>
                <a:latin typeface="Aptos"/>
              </a:rPr>
              <a:t>Camera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98648"/>
            <a:ext cx="205740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B5C5"/>
                </a:solidFill>
                <a:latin typeface="Aptos"/>
              </a:rPr>
              <a:t>Capture the waste item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88620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D9DFF"/>
                </a:solidFill>
                <a:latin typeface="Aptos"/>
              </a:rPr>
              <a:t>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2240280"/>
            <a:ext cx="2468880" cy="2331720"/>
          </a:xfrm>
          <a:prstGeom prst="roundRect">
            <a:avLst/>
          </a:prstGeom>
          <a:solidFill>
            <a:srgbClr val="121F2F"/>
          </a:solidFill>
          <a:ln>
            <a:solidFill>
              <a:srgbClr val="23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0" y="2240280"/>
            <a:ext cx="64008" cy="2331720"/>
          </a:xfrm>
          <a:prstGeom prst="rect">
            <a:avLst/>
          </a:prstGeom>
          <a:solidFill>
            <a:srgbClr val="33C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2423160"/>
            <a:ext cx="2057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F6FA"/>
                </a:solidFill>
                <a:latin typeface="Aptos"/>
              </a:rPr>
              <a:t>Preprocess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898648"/>
            <a:ext cx="205740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B5C5"/>
                </a:solidFill>
                <a:latin typeface="Aptos"/>
              </a:rPr>
              <a:t>Resize &amp; normalize the image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7" y="388620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3CDB7"/>
                </a:solidFill>
                <a:latin typeface="Aptos"/>
              </a:rPr>
              <a:t>02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240280"/>
            <a:ext cx="2468880" cy="2331720"/>
          </a:xfrm>
          <a:prstGeom prst="roundRect">
            <a:avLst/>
          </a:prstGeom>
          <a:solidFill>
            <a:srgbClr val="121F2F"/>
          </a:solidFill>
          <a:ln>
            <a:solidFill>
              <a:srgbClr val="23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2240280"/>
            <a:ext cx="64008" cy="2331720"/>
          </a:xfrm>
          <a:prstGeom prst="rect">
            <a:avLst/>
          </a:prstGeom>
          <a:solidFill>
            <a:srgbClr val="F7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423160"/>
            <a:ext cx="2057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F6FA"/>
                </a:solidFill>
                <a:latin typeface="Aptos"/>
              </a:rPr>
              <a:t>CNN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898648"/>
            <a:ext cx="205740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B5C5"/>
                </a:solidFill>
                <a:latin typeface="Aptos"/>
              </a:rPr>
              <a:t>Extract visual features &amp; classify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7" y="388620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7AA4A"/>
                </a:solidFill>
                <a:latin typeface="Aptos"/>
              </a:rPr>
              <a:t>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59" y="2240280"/>
            <a:ext cx="2468880" cy="2331720"/>
          </a:xfrm>
          <a:prstGeom prst="roundRect">
            <a:avLst/>
          </a:prstGeom>
          <a:solidFill>
            <a:srgbClr val="121F2F"/>
          </a:solidFill>
          <a:ln>
            <a:solidFill>
              <a:srgbClr val="23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52559" y="2240280"/>
            <a:ext cx="64008" cy="2331720"/>
          </a:xfrm>
          <a:prstGeom prst="rect">
            <a:avLst/>
          </a:prstGeom>
          <a:solidFill>
            <a:srgbClr val="4FC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59" y="2423160"/>
            <a:ext cx="2057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F6FA"/>
                </a:solidFill>
                <a:latin typeface="Aptos"/>
              </a:rPr>
              <a:t>Sort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59" y="2898648"/>
            <a:ext cx="205740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B5C5"/>
                </a:solidFill>
                <a:latin typeface="Aptos"/>
              </a:rPr>
              <a:t>Send the class to the sorting mechanism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3728" y="388620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FCD85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16636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2F6FA"/>
                </a:solidFill>
                <a:latin typeface="Aptos"/>
              </a:rPr>
              <a:t>CAMERA  →  PREPROCESSING  →  CNN CLASSIFICATION  →  AUTOMATED SORTING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5C5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3C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3CDB7"/>
                </a:solidFill>
                <a:latin typeface="Aptos"/>
              </a:rPr>
              <a:t>03 —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2F6FA"/>
                </a:solidFill>
                <a:latin typeface="Aptos"/>
              </a:rPr>
              <a:t>Teach the model what medical waste looks like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0020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B5C5"/>
                </a:solidFill>
                <a:latin typeface="Aptos"/>
              </a:rPr>
              <a:t>The source presentation describes a Roboflow Medical Waste dataset.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2743200" cy="2560320"/>
          </a:xfrm>
          <a:prstGeom prst="roundRect">
            <a:avLst/>
          </a:prstGeom>
          <a:solidFill>
            <a:srgbClr val="121F2F"/>
          </a:solidFill>
          <a:ln>
            <a:solidFill>
              <a:srgbClr val="23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148840"/>
            <a:ext cx="64008" cy="2560320"/>
          </a:xfrm>
          <a:prstGeom prst="rect">
            <a:avLst/>
          </a:prstGeom>
          <a:solidFill>
            <a:srgbClr val="33C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F6FA"/>
                </a:solidFill>
                <a:latin typeface="Aptos"/>
              </a:rPr>
              <a:t>~4,000 Images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07208"/>
            <a:ext cx="23317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B5C5"/>
                </a:solidFill>
                <a:latin typeface="Aptos"/>
              </a:rPr>
              <a:t>Variations in viewpoint and lighting are used to support model learning.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2148840"/>
            <a:ext cx="2743200" cy="2560320"/>
          </a:xfrm>
          <a:prstGeom prst="roundRect">
            <a:avLst/>
          </a:prstGeom>
          <a:solidFill>
            <a:srgbClr val="121F2F"/>
          </a:solidFill>
          <a:ln>
            <a:solidFill>
              <a:srgbClr val="23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2148840"/>
            <a:ext cx="64008" cy="2560320"/>
          </a:xfrm>
          <a:prstGeom prst="rect">
            <a:avLst/>
          </a:prstGeom>
          <a:solidFill>
            <a:srgbClr val="5D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2331720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F6FA"/>
                </a:solidFill>
                <a:latin typeface="Aptos"/>
              </a:rPr>
              <a:t>4 Classes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2807208"/>
            <a:ext cx="23317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B5C5"/>
                </a:solidFill>
                <a:latin typeface="Aptos"/>
              </a:rPr>
              <a:t>Mask • Gloves • Syringe • Medicine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2148840"/>
            <a:ext cx="3657600" cy="2560320"/>
          </a:xfrm>
          <a:prstGeom prst="roundRect">
            <a:avLst/>
          </a:prstGeom>
          <a:solidFill>
            <a:srgbClr val="121F2F"/>
          </a:solidFill>
          <a:ln>
            <a:solidFill>
              <a:srgbClr val="23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29400" y="2148840"/>
            <a:ext cx="64008" cy="2560320"/>
          </a:xfrm>
          <a:prstGeom prst="rect">
            <a:avLst/>
          </a:prstGeom>
          <a:solidFill>
            <a:srgbClr val="F7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2331720"/>
            <a:ext cx="3246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F6FA"/>
                </a:solidFill>
                <a:latin typeface="Aptos"/>
              </a:rPr>
              <a:t>Supervised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807208"/>
            <a:ext cx="32461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B5C5"/>
                </a:solidFill>
                <a:latin typeface="Aptos"/>
              </a:rPr>
              <a:t>Images are organized into known categories so the CNN can learn the visual patterns associated with each class.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0352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33CDB7"/>
                </a:solidFill>
                <a:latin typeface="Aptos"/>
              </a:rPr>
              <a:t>DATA → LABELS → IMAGE CLASSIFICATION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5C5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3C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3CDB7"/>
                </a:solidFill>
                <a:latin typeface="Aptos"/>
              </a:rPr>
              <a:t>04 —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2F6FA"/>
                </a:solidFill>
                <a:latin typeface="Aptos"/>
              </a:rPr>
              <a:t>Make the model more robust to real-world variation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0020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B5C5"/>
                </a:solidFill>
                <a:latin typeface="Aptos"/>
              </a:rPr>
              <a:t>The project applies standardization and image augmentation.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40280"/>
            <a:ext cx="3383280" cy="2514600"/>
          </a:xfrm>
          <a:prstGeom prst="roundRect">
            <a:avLst/>
          </a:prstGeom>
          <a:solidFill>
            <a:srgbClr val="121F2F"/>
          </a:solidFill>
          <a:ln>
            <a:solidFill>
              <a:srgbClr val="23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240280"/>
            <a:ext cx="64008" cy="2514600"/>
          </a:xfrm>
          <a:prstGeom prst="rect">
            <a:avLst/>
          </a:prstGeom>
          <a:solidFill>
            <a:srgbClr val="5D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F6FA"/>
                </a:solidFill>
                <a:latin typeface="Aptos"/>
              </a:rPr>
              <a:t>Standardization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98648"/>
            <a:ext cx="297180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B5C5"/>
                </a:solidFill>
                <a:latin typeface="Aptos"/>
              </a:rPr>
              <a:t>Images are resized to a standard input size and RGB values are normalized to create a more consistent input distribution.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2240280"/>
            <a:ext cx="3383280" cy="2514600"/>
          </a:xfrm>
          <a:prstGeom prst="roundRect">
            <a:avLst/>
          </a:prstGeom>
          <a:solidFill>
            <a:srgbClr val="121F2F"/>
          </a:solidFill>
          <a:ln>
            <a:solidFill>
              <a:srgbClr val="23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2240280"/>
            <a:ext cx="64008" cy="2514600"/>
          </a:xfrm>
          <a:prstGeom prst="rect">
            <a:avLst/>
          </a:prstGeom>
          <a:solidFill>
            <a:srgbClr val="33C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2423160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F6FA"/>
                </a:solidFill>
                <a:latin typeface="Aptos"/>
              </a:rPr>
              <a:t>Augmentation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898648"/>
            <a:ext cx="297180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B5C5"/>
                </a:solidFill>
                <a:latin typeface="Aptos"/>
              </a:rPr>
              <a:t>Horizontal flip, random rotation, and brightness adjustment help expose the model to varied object orientations and lighting.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9016" y="2240280"/>
            <a:ext cx="3383280" cy="2514600"/>
          </a:xfrm>
          <a:prstGeom prst="roundRect">
            <a:avLst/>
          </a:prstGeom>
          <a:solidFill>
            <a:srgbClr val="121F2F"/>
          </a:solidFill>
          <a:ln>
            <a:solidFill>
              <a:srgbClr val="23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9016" y="2240280"/>
            <a:ext cx="64008" cy="2514600"/>
          </a:xfrm>
          <a:prstGeom prst="rect">
            <a:avLst/>
          </a:prstGeom>
          <a:solidFill>
            <a:srgbClr val="F7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7616" y="2423160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F6FA"/>
                </a:solidFill>
                <a:latin typeface="Aptos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6" y="2898648"/>
            <a:ext cx="297180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B5C5"/>
                </a:solidFill>
                <a:latin typeface="Aptos"/>
              </a:rPr>
              <a:t>A deployed system will not see every object under identical lighting, orientation, or presentation conditions.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5C5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3C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3CDB7"/>
                </a:solidFill>
                <a:latin typeface="Aptos"/>
              </a:rPr>
              <a:t>05 — MODEL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2F6FA"/>
                </a:solidFill>
                <a:latin typeface="Aptos"/>
              </a:rPr>
              <a:t>Which CNN architecture performs best?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0020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B5C5"/>
                </a:solidFill>
                <a:latin typeface="Aptos"/>
              </a:rPr>
              <a:t>Three architectures were compared in the project.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40280"/>
            <a:ext cx="3246120" cy="2743200"/>
          </a:xfrm>
          <a:prstGeom prst="roundRect">
            <a:avLst/>
          </a:prstGeom>
          <a:solidFill>
            <a:srgbClr val="121F2F"/>
          </a:solidFill>
          <a:ln>
            <a:solidFill>
              <a:srgbClr val="23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42032"/>
            <a:ext cx="2788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2F6FA"/>
                </a:solidFill>
                <a:latin typeface="Aptos"/>
              </a:rPr>
              <a:t>ResNet50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B5C5"/>
                </a:solidFill>
                <a:latin typeface="Aptos"/>
              </a:rPr>
              <a:t>Residual connections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3CDB7"/>
                </a:solidFill>
                <a:latin typeface="Aptos"/>
              </a:rPr>
              <a:t>BEST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2560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33CDB7"/>
                </a:solidFill>
                <a:latin typeface="Aptos"/>
              </a:rPr>
              <a:t>94%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2240280"/>
            <a:ext cx="3246120" cy="2743200"/>
          </a:xfrm>
          <a:prstGeom prst="roundRect">
            <a:avLst/>
          </a:prstGeom>
          <a:solidFill>
            <a:srgbClr val="121F2F"/>
          </a:solidFill>
          <a:ln>
            <a:solidFill>
              <a:srgbClr val="23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2542032"/>
            <a:ext cx="2788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2F6FA"/>
                </a:solidFill>
                <a:latin typeface="Aptos"/>
              </a:rPr>
              <a:t>EfficientNet-B0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3154680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B5C5"/>
                </a:solidFill>
                <a:latin typeface="Aptos"/>
              </a:rPr>
              <a:t>Performance efficiency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388620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7AA4A"/>
                </a:solidFill>
                <a:latin typeface="Aptos"/>
              </a:rPr>
              <a:t>COMPARED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4160520"/>
            <a:ext cx="2560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7AA4A"/>
                </a:solidFill>
                <a:latin typeface="Aptos"/>
              </a:rPr>
              <a:t>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47304" y="2240280"/>
            <a:ext cx="3246120" cy="2743200"/>
          </a:xfrm>
          <a:prstGeom prst="roundRect">
            <a:avLst/>
          </a:prstGeom>
          <a:solidFill>
            <a:srgbClr val="121F2F"/>
          </a:solidFill>
          <a:ln>
            <a:solidFill>
              <a:srgbClr val="23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5904" y="2542032"/>
            <a:ext cx="2788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2F6FA"/>
                </a:solidFill>
                <a:latin typeface="Aptos"/>
              </a:rPr>
              <a:t>MobileNetV2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3154680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B5C5"/>
                </a:solidFill>
                <a:latin typeface="Aptos"/>
              </a:rPr>
              <a:t>Lightweight / edge-oriented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388620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5D9DFF"/>
                </a:solidFill>
                <a:latin typeface="Aptos"/>
              </a:rPr>
              <a:t>COMPARED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4" y="4160520"/>
            <a:ext cx="2560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5D9DFF"/>
                </a:solidFill>
                <a:latin typeface="Aptos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44068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2F6FA"/>
                </a:solidFill>
                <a:latin typeface="Aptos"/>
              </a:rPr>
              <a:t>Result: ResNet50 achieved the highest reported classification accuracy.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5C5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3C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3CDB7"/>
                </a:solidFill>
                <a:latin typeface="Aptos"/>
              </a:rPr>
              <a:t>06 —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2F6FA"/>
                </a:solidFill>
                <a:latin typeface="Aptos"/>
              </a:rPr>
              <a:t>ResNet50 reached 94% classification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0020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B5C5"/>
                </a:solidFill>
                <a:latin typeface="Aptos"/>
              </a:rPr>
              <a:t>The result is promising — but accuracy is not the same as operational effectiveness.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30175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33CDB7"/>
                </a:solidFill>
                <a:latin typeface="Aptos"/>
              </a:rPr>
              <a:t>94%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01568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A6B5C5"/>
                </a:solidFill>
                <a:latin typeface="Aptos"/>
              </a:rPr>
              <a:t>reported accuracy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2240280"/>
            <a:ext cx="3291840" cy="2560320"/>
          </a:xfrm>
          <a:prstGeom prst="roundRect">
            <a:avLst/>
          </a:prstGeom>
          <a:solidFill>
            <a:srgbClr val="121F2F"/>
          </a:solidFill>
          <a:ln>
            <a:solidFill>
              <a:srgbClr val="23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2240280"/>
            <a:ext cx="64008" cy="2560320"/>
          </a:xfrm>
          <a:prstGeom prst="rect">
            <a:avLst/>
          </a:prstGeom>
          <a:solidFill>
            <a:srgbClr val="33C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423160"/>
            <a:ext cx="2880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F6FA"/>
                </a:solidFill>
                <a:latin typeface="Aptos"/>
              </a:rPr>
              <a:t>What this tells 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898648"/>
            <a:ext cx="28803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B5C5"/>
                </a:solidFill>
                <a:latin typeface="Aptos"/>
              </a:rPr>
              <a:t>The model learned meaningful visual patterns across the four medical-waste categories.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2240280"/>
            <a:ext cx="3291840" cy="2560320"/>
          </a:xfrm>
          <a:prstGeom prst="roundRect">
            <a:avLst/>
          </a:prstGeom>
          <a:solidFill>
            <a:srgbClr val="121F2F"/>
          </a:solidFill>
          <a:ln>
            <a:solidFill>
              <a:srgbClr val="23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18120" y="2240280"/>
            <a:ext cx="64008" cy="2560320"/>
          </a:xfrm>
          <a:prstGeom prst="rect">
            <a:avLst/>
          </a:prstGeom>
          <a:solidFill>
            <a:srgbClr val="F7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2423160"/>
            <a:ext cx="2880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F6FA"/>
                </a:solidFill>
                <a:latin typeface="Aptos"/>
              </a:rPr>
              <a:t>What it doesn't tell 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898648"/>
            <a:ext cx="28803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B5C5"/>
                </a:solidFill>
                <a:latin typeface="Aptos"/>
              </a:rPr>
              <a:t>Real-world performance under changing lighting, occlusion, camera position, and conveyor conditions still needs validation.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25780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7AA4A"/>
                </a:solidFill>
                <a:latin typeface="Aptos"/>
              </a:rPr>
              <a:t>94% = model evaluation result, not a measured hospital deployment outcome.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5C5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3C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3CDB7"/>
                </a:solidFill>
                <a:latin typeface="Aptos"/>
              </a:rPr>
              <a:t>07 — FROM MODEL TO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2F6FA"/>
                </a:solidFill>
                <a:latin typeface="Aptos"/>
              </a:rPr>
              <a:t>The model matters when it changes the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0020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B5C5"/>
                </a:solidFill>
                <a:latin typeface="Aptos"/>
              </a:rPr>
              <a:t>The proposed system connects classification to automated sorting.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94560"/>
            <a:ext cx="2514600" cy="2468880"/>
          </a:xfrm>
          <a:prstGeom prst="roundRect">
            <a:avLst/>
          </a:prstGeom>
          <a:solidFill>
            <a:srgbClr val="121F2F"/>
          </a:solidFill>
          <a:ln>
            <a:solidFill>
              <a:srgbClr val="23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194560"/>
            <a:ext cx="64008" cy="2468880"/>
          </a:xfrm>
          <a:prstGeom prst="rect">
            <a:avLst/>
          </a:prstGeom>
          <a:solidFill>
            <a:srgbClr val="5D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F6FA"/>
                </a:solidFill>
                <a:latin typeface="Aptos"/>
              </a:rPr>
              <a:t>1. Detect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52928"/>
            <a:ext cx="21031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B5C5"/>
                </a:solidFill>
                <a:latin typeface="Aptos"/>
              </a:rPr>
              <a:t>Camera captures the waste item.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194560"/>
            <a:ext cx="2514600" cy="2468880"/>
          </a:xfrm>
          <a:prstGeom prst="roundRect">
            <a:avLst/>
          </a:prstGeom>
          <a:solidFill>
            <a:srgbClr val="121F2F"/>
          </a:solidFill>
          <a:ln>
            <a:solidFill>
              <a:srgbClr val="23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2194560"/>
            <a:ext cx="64008" cy="2468880"/>
          </a:xfrm>
          <a:prstGeom prst="rect">
            <a:avLst/>
          </a:prstGeom>
          <a:solidFill>
            <a:srgbClr val="33C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37744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F6FA"/>
                </a:solidFill>
                <a:latin typeface="Aptos"/>
              </a:rPr>
              <a:t>2. Classify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852928"/>
            <a:ext cx="21031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B5C5"/>
                </a:solidFill>
                <a:latin typeface="Aptos"/>
              </a:rPr>
              <a:t>CNN predicts Mask, Gloves, Syringe, or Medicine.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2194560"/>
            <a:ext cx="2514600" cy="2468880"/>
          </a:xfrm>
          <a:prstGeom prst="roundRect">
            <a:avLst/>
          </a:prstGeom>
          <a:solidFill>
            <a:srgbClr val="121F2F"/>
          </a:solidFill>
          <a:ln>
            <a:solidFill>
              <a:srgbClr val="23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0760" y="2194560"/>
            <a:ext cx="64008" cy="2468880"/>
          </a:xfrm>
          <a:prstGeom prst="rect">
            <a:avLst/>
          </a:prstGeom>
          <a:solidFill>
            <a:srgbClr val="F7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37744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F6FA"/>
                </a:solidFill>
                <a:latin typeface="Aptos"/>
              </a:rPr>
              <a:t>3. Decide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852928"/>
            <a:ext cx="21031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B5C5"/>
                </a:solidFill>
                <a:latin typeface="Aptos"/>
              </a:rPr>
              <a:t>The predicted class becomes a sorting instruction.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78240" y="2194560"/>
            <a:ext cx="2514600" cy="2468880"/>
          </a:xfrm>
          <a:prstGeom prst="roundRect">
            <a:avLst/>
          </a:prstGeom>
          <a:solidFill>
            <a:srgbClr val="121F2F"/>
          </a:solidFill>
          <a:ln>
            <a:solidFill>
              <a:srgbClr val="23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40" y="2194560"/>
            <a:ext cx="64008" cy="2468880"/>
          </a:xfrm>
          <a:prstGeom prst="rect">
            <a:avLst/>
          </a:prstGeom>
          <a:solidFill>
            <a:srgbClr val="4FC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40" y="237744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F6FA"/>
                </a:solidFill>
                <a:latin typeface="Aptos"/>
              </a:rPr>
              <a:t>4. Sort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2852928"/>
            <a:ext cx="21031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B5C5"/>
                </a:solidFill>
                <a:latin typeface="Aptos"/>
              </a:rPr>
              <a:t>A physical mechanism can route the item to the appropriate container.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25780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2F6FA"/>
                </a:solidFill>
                <a:latin typeface="Aptos"/>
              </a:rPr>
              <a:t>Potential operational value: reduce dependence on manual classification and support safer handling workflows.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5C5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3C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3CDB7"/>
                </a:solidFill>
                <a:latin typeface="Aptos"/>
              </a:rPr>
              <a:t>08 — 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2F6FA"/>
                </a:solidFill>
                <a:latin typeface="Aptos"/>
              </a:rPr>
              <a:t>From image classification to real-time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0020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B5C5"/>
                </a:solidFill>
                <a:latin typeface="Aptos"/>
              </a:rPr>
              <a:t>The biggest gap is no longer the model — it is real-world validation.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3246120" cy="2697480"/>
          </a:xfrm>
          <a:prstGeom prst="roundRect">
            <a:avLst/>
          </a:prstGeom>
          <a:solidFill>
            <a:srgbClr val="121F2F"/>
          </a:solidFill>
          <a:ln>
            <a:solidFill>
              <a:srgbClr val="23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148840"/>
            <a:ext cx="64008" cy="2697480"/>
          </a:xfrm>
          <a:prstGeom prst="rect">
            <a:avLst/>
          </a:prstGeom>
          <a:solidFill>
            <a:srgbClr val="33C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28346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F6FA"/>
                </a:solidFill>
                <a:latin typeface="Aptos"/>
              </a:rPr>
              <a:t>Real-time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07208"/>
            <a:ext cx="2834639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B5C5"/>
                </a:solidFill>
                <a:latin typeface="Aptos"/>
              </a:rPr>
              <a:t>Move beyond image classification toward object detection in a live camera/conveyor setting.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148840"/>
            <a:ext cx="3246120" cy="2697480"/>
          </a:xfrm>
          <a:prstGeom prst="roundRect">
            <a:avLst/>
          </a:prstGeom>
          <a:solidFill>
            <a:srgbClr val="121F2F"/>
          </a:solidFill>
          <a:ln>
            <a:solidFill>
              <a:srgbClr val="23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2148840"/>
            <a:ext cx="64008" cy="2697480"/>
          </a:xfrm>
          <a:prstGeom prst="rect">
            <a:avLst/>
          </a:prstGeom>
          <a:solidFill>
            <a:srgbClr val="5D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2331720"/>
            <a:ext cx="28346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F6FA"/>
                </a:solidFill>
                <a:latin typeface="Aptos"/>
              </a:rPr>
              <a:t>Edge Deployment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807208"/>
            <a:ext cx="2834639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B5C5"/>
                </a:solidFill>
                <a:latin typeface="Aptos"/>
              </a:rPr>
              <a:t>Explore lightweight architectures and hardware constraints for local inference.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2148840"/>
            <a:ext cx="3246120" cy="2697480"/>
          </a:xfrm>
          <a:prstGeom prst="roundRect">
            <a:avLst/>
          </a:prstGeom>
          <a:solidFill>
            <a:srgbClr val="121F2F"/>
          </a:solidFill>
          <a:ln>
            <a:solidFill>
              <a:srgbClr val="23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75320" y="2148840"/>
            <a:ext cx="64008" cy="2697480"/>
          </a:xfrm>
          <a:prstGeom prst="rect">
            <a:avLst/>
          </a:prstGeom>
          <a:solidFill>
            <a:srgbClr val="F7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331720"/>
            <a:ext cx="28346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F6FA"/>
                </a:solidFill>
                <a:latin typeface="Aptos"/>
              </a:rPr>
              <a:t>Operational Testing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807208"/>
            <a:ext cx="2834639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B5C5"/>
                </a:solidFill>
                <a:latin typeface="Aptos"/>
              </a:rPr>
              <a:t>Test with real waste, varied lighting, occlusion, camera positions, and conveyor conditions.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30352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2F6FA"/>
                </a:solidFill>
                <a:latin typeface="Aptos"/>
              </a:rPr>
              <a:t>The goal: validate whether a strong offline model can become a reliable operational system.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5C5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3C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3CDB7"/>
                </a:solidFill>
                <a:latin typeface="Aptos"/>
              </a:rPr>
              <a:t>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332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F2F6FA"/>
                </a:solidFill>
                <a:latin typeface="Aptos"/>
              </a:rPr>
              <a:t>Computer Vision is not just about
classification accuracy.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697480"/>
            <a:ext cx="9875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A6B5C5"/>
                </a:solidFill>
                <a:latin typeface="Aptos"/>
              </a:rPr>
              <a:t>The interesting part is connecting the model to a real operational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886200"/>
            <a:ext cx="2377440" cy="731520"/>
          </a:xfrm>
          <a:prstGeom prst="roundRect">
            <a:avLst/>
          </a:prstGeom>
          <a:solidFill>
            <a:srgbClr val="121F2F"/>
          </a:solidFill>
          <a:ln>
            <a:solidFill>
              <a:srgbClr val="5D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105656"/>
            <a:ext cx="2377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5D9DFF"/>
                </a:solidFill>
                <a:latin typeface="Aptos"/>
              </a:rPr>
              <a:t>Computer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96512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A6B5C5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79" y="3886200"/>
            <a:ext cx="2377440" cy="731520"/>
          </a:xfrm>
          <a:prstGeom prst="roundRect">
            <a:avLst/>
          </a:prstGeom>
          <a:solidFill>
            <a:srgbClr val="121F2F"/>
          </a:solidFill>
          <a:ln>
            <a:solidFill>
              <a:srgbClr val="33CD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79" y="4105656"/>
            <a:ext cx="2377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33CDB7"/>
                </a:solidFill>
                <a:latin typeface="Aptos"/>
              </a:rPr>
              <a:t>Classification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4096512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A6B5C5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886200"/>
            <a:ext cx="2377440" cy="731520"/>
          </a:xfrm>
          <a:prstGeom prst="roundRect">
            <a:avLst/>
          </a:prstGeom>
          <a:solidFill>
            <a:srgbClr val="121F2F"/>
          </a:solidFill>
          <a:ln>
            <a:solidFill>
              <a:srgbClr val="F7A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105656"/>
            <a:ext cx="2377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7AA4A"/>
                </a:solidFill>
                <a:latin typeface="Aptos"/>
              </a:rPr>
              <a:t>Automation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4096512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A6B5C5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19" y="3886200"/>
            <a:ext cx="2377440" cy="731520"/>
          </a:xfrm>
          <a:prstGeom prst="roundRect">
            <a:avLst/>
          </a:prstGeom>
          <a:solidFill>
            <a:srgbClr val="121F2F"/>
          </a:solidFill>
          <a:ln>
            <a:solidFill>
              <a:srgbClr val="4FCD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19" y="4105656"/>
            <a:ext cx="2377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4FCD85"/>
                </a:solidFill>
                <a:latin typeface="Aptos"/>
              </a:rPr>
              <a:t>Operational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6B5C5"/>
                </a:solidFill>
                <a:latin typeface="Aptos"/>
              </a:rPr>
              <a:t>Medical Waste Classification using Deep 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562356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33CDB7"/>
                </a:solidFill>
                <a:latin typeface="Aptos"/>
              </a:rPr>
              <a:t>Thank you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B5C5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